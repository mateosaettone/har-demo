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59" r:id="rId6"/>
    <p:sldId id="261" r:id="rId7"/>
    <p:sldId id="264" r:id="rId8"/>
    <p:sldId id="266" r:id="rId9"/>
    <p:sldId id="268" r:id="rId18"/>
    <p:sldId id="269" r:id="rId19"/>
    <p:sldId id="260" r:id="rId10"/>
    <p:sldId id="262" r:id="rId11"/>
    <p:sldId id="263" r:id="rId12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DCCE7-7F93-FA11-23C6-21D3E4C4A8B7}" v="593" dt="2026-04-14T20:19:26.223"/>
    <p1510:client id="{25EC6EDB-0D3F-0B39-0DE4-96B48325E243}" v="255" dt="2026-04-15T02:55:54.825"/>
    <p1510:client id="{78A99BE4-6BA3-A3A1-AD23-5D521FF3C3A9}" v="191" dt="2026-04-15T02:03:21.322"/>
    <p1510:client id="{A40F5ED7-B8F6-387F-AC5B-ABAE40AD5E77}" v="572" dt="2026-04-13T17:01:18.541"/>
    <p1510:client id="{C1D53305-8E5D-C78F-EF98-1DCEF02401CA}" v="149" dt="2026-04-14T21:29:22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A201F-AABD-4F92-915D-FEEF3E23F971}" type="doc">
      <dgm:prSet loTypeId="urn:microsoft.com/office/officeart/2005/8/layout/hProcess11" loCatId="process" qsTypeId="urn:microsoft.com/office/officeart/2005/8/quickstyle/simple2" qsCatId="simple" csTypeId="urn:microsoft.com/office/officeart/2005/8/colors/accent1_5" csCatId="accent1" phldr="1"/>
      <dgm:spPr/>
    </dgm:pt>
    <dgm:pt modelId="{EB97BE40-E505-4699-830C-243ADB99192A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Raw data from UCI dataset (acceleration and gyro)</a:t>
          </a:r>
          <a:endParaRPr lang="en-US" dirty="0"/>
        </a:p>
      </dgm:t>
    </dgm:pt>
    <dgm:pt modelId="{D3E40ADD-7346-480C-A089-8F0E48F2A37C}" type="parTrans" cxnId="{003FF9AC-5AD6-44C4-94A4-FD786AFB6619}">
      <dgm:prSet/>
      <dgm:spPr/>
    </dgm:pt>
    <dgm:pt modelId="{8ACCF50A-11AE-4B94-B19F-D628C51EF880}" type="sibTrans" cxnId="{003FF9AC-5AD6-44C4-94A4-FD786AFB6619}">
      <dgm:prSet/>
      <dgm:spPr/>
    </dgm:pt>
    <dgm:pt modelId="{60AA8585-C599-47C9-8693-83B9212C1288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</a:t>
          </a:r>
          <a:r>
            <a:rPr lang="en-US">
              <a:latin typeface="Aptos Display" panose="020F0302020204030204"/>
            </a:rPr>
            <a:t>Preprocessing</a:t>
          </a:r>
          <a:r>
            <a:rPr lang="en-US" dirty="0">
              <a:latin typeface="Aptos Display" panose="020F0302020204030204"/>
            </a:rPr>
            <a:t> (window, filtering, normalization, splitting)</a:t>
          </a:r>
          <a:endParaRPr lang="en-US" dirty="0"/>
        </a:p>
      </dgm:t>
    </dgm:pt>
    <dgm:pt modelId="{395DA2BB-9571-4096-ADFF-9709B77CBC95}" type="parTrans" cxnId="{434047FD-A09F-473F-B0EE-8365B6366BCA}">
      <dgm:prSet/>
      <dgm:spPr/>
    </dgm:pt>
    <dgm:pt modelId="{B6B57579-681F-4C9E-8729-0FF54F50761C}" type="sibTrans" cxnId="{434047FD-A09F-473F-B0EE-8365B6366BCA}">
      <dgm:prSet/>
      <dgm:spPr/>
    </dgm:pt>
    <dgm:pt modelId="{5DA94DBC-45B2-4C2F-94F3-2BCEA41CD3F5}">
      <dgm:prSet phldrT="[Text]"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</a:t>
          </a:r>
          <a:r>
            <a:rPr lang="en-US">
              <a:latin typeface="Aptos Display" panose="020F0302020204030204"/>
            </a:rPr>
            <a:t>Feature extraction (time and frequency, </a:t>
          </a:r>
          <a:r>
            <a:rPr lang="en-US" dirty="0">
              <a:latin typeface="Aptos Display" panose="020F0302020204030204"/>
            </a:rPr>
            <a:t>raw data window for CNN model)</a:t>
          </a:r>
        </a:p>
      </dgm:t>
    </dgm:pt>
    <dgm:pt modelId="{CAB59A71-7D8B-4431-930E-57EE8EC202EE}" type="parTrans" cxnId="{4C6D15E2-B4DA-4E68-A33C-510187CF65B1}">
      <dgm:prSet/>
      <dgm:spPr/>
    </dgm:pt>
    <dgm:pt modelId="{5709495E-4DDA-4CC8-8528-4E81A4436FF1}" type="sibTrans" cxnId="{4C6D15E2-B4DA-4E68-A33C-510187CF65B1}">
      <dgm:prSet/>
      <dgm:spPr/>
    </dgm:pt>
    <dgm:pt modelId="{864AA59E-22A0-47B6-8290-1C912E5FB449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Model training</a:t>
          </a:r>
          <a:endParaRPr lang="en-US" dirty="0"/>
        </a:p>
      </dgm:t>
    </dgm:pt>
    <dgm:pt modelId="{17810E21-61CE-433F-A6A5-4B6D176A8677}" type="parTrans" cxnId="{9B16A269-9A8F-4426-899F-F9FA10E468C1}">
      <dgm:prSet/>
      <dgm:spPr/>
    </dgm:pt>
    <dgm:pt modelId="{25D9666B-F5B8-4770-8AEB-DA9E21B4E8DF}" type="sibTrans" cxnId="{9B16A269-9A8F-4426-899F-F9FA10E468C1}">
      <dgm:prSet/>
      <dgm:spPr/>
    </dgm:pt>
    <dgm:pt modelId="{484B91CE-2E75-4508-B5A1-9D8E0FF3E179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 Exporting results (</a:t>
          </a:r>
          <a:r>
            <a:rPr lang="en-US" dirty="0" err="1">
              <a:latin typeface="Aptos Display" panose="020F0302020204030204"/>
            </a:rPr>
            <a:t>model.json</a:t>
          </a:r>
          <a:r>
            <a:rPr lang="en-US" dirty="0">
              <a:latin typeface="Aptos Display" panose="020F0302020204030204"/>
            </a:rPr>
            <a:t> + TF.js, ONNX Web)</a:t>
          </a:r>
        </a:p>
      </dgm:t>
    </dgm:pt>
    <dgm:pt modelId="{FF800812-7A6D-4F3A-BF72-7EF2D535DF60}" type="parTrans" cxnId="{A8822C2E-66D5-45D2-92A0-2A54984E1F42}">
      <dgm:prSet/>
      <dgm:spPr/>
    </dgm:pt>
    <dgm:pt modelId="{A83803C8-4135-4F7C-9922-AC640591FBFF}" type="sibTrans" cxnId="{A8822C2E-66D5-45D2-92A0-2A54984E1F42}">
      <dgm:prSet/>
      <dgm:spPr/>
    </dgm:pt>
    <dgm:pt modelId="{4C667887-141D-40EE-A349-DF195B40901E}" type="pres">
      <dgm:prSet presAssocID="{007A201F-AABD-4F92-915D-FEEF3E23F971}" presName="Name0" presStyleCnt="0">
        <dgm:presLayoutVars>
          <dgm:dir/>
          <dgm:resizeHandles val="exact"/>
        </dgm:presLayoutVars>
      </dgm:prSet>
      <dgm:spPr/>
    </dgm:pt>
    <dgm:pt modelId="{E97E939B-2D7F-4FE3-B7FA-441C843DF3B4}" type="pres">
      <dgm:prSet presAssocID="{007A201F-AABD-4F92-915D-FEEF3E23F971}" presName="arrow" presStyleLbl="bgShp" presStyleIdx="0" presStyleCnt="1"/>
      <dgm:spPr/>
    </dgm:pt>
    <dgm:pt modelId="{33282EEB-2BDE-4D2D-A46C-A716DDED9520}" type="pres">
      <dgm:prSet presAssocID="{007A201F-AABD-4F92-915D-FEEF3E23F971}" presName="points" presStyleCnt="0"/>
      <dgm:spPr/>
    </dgm:pt>
    <dgm:pt modelId="{2C2E7EE7-A2BD-4703-BED1-D6CFD58B2639}" type="pres">
      <dgm:prSet presAssocID="{EB97BE40-E505-4699-830C-243ADB99192A}" presName="compositeA" presStyleCnt="0"/>
      <dgm:spPr/>
    </dgm:pt>
    <dgm:pt modelId="{D173214B-8969-4322-B9FB-89DB2FEE28CA}" type="pres">
      <dgm:prSet presAssocID="{EB97BE40-E505-4699-830C-243ADB99192A}" presName="textA" presStyleLbl="revTx" presStyleIdx="0" presStyleCnt="5">
        <dgm:presLayoutVars>
          <dgm:bulletEnabled val="1"/>
        </dgm:presLayoutVars>
      </dgm:prSet>
      <dgm:spPr/>
    </dgm:pt>
    <dgm:pt modelId="{AA381D20-A8A9-42AE-B409-06559A175A1F}" type="pres">
      <dgm:prSet presAssocID="{EB97BE40-E505-4699-830C-243ADB99192A}" presName="circleA" presStyleLbl="node1" presStyleIdx="0" presStyleCnt="5"/>
      <dgm:spPr/>
    </dgm:pt>
    <dgm:pt modelId="{14954471-E855-46A9-8B9F-DA508A8D9E2D}" type="pres">
      <dgm:prSet presAssocID="{EB97BE40-E505-4699-830C-243ADB99192A}" presName="spaceA" presStyleCnt="0"/>
      <dgm:spPr/>
    </dgm:pt>
    <dgm:pt modelId="{EB7114D1-DB01-4FC3-80FA-1C5C42EF133D}" type="pres">
      <dgm:prSet presAssocID="{8ACCF50A-11AE-4B94-B19F-D628C51EF880}" presName="space" presStyleCnt="0"/>
      <dgm:spPr/>
    </dgm:pt>
    <dgm:pt modelId="{CAAEDCD8-591C-46B8-80D3-162E31629F37}" type="pres">
      <dgm:prSet presAssocID="{60AA8585-C599-47C9-8693-83B9212C1288}" presName="compositeB" presStyleCnt="0"/>
      <dgm:spPr/>
    </dgm:pt>
    <dgm:pt modelId="{BD3CECD3-D187-4BE1-A0F7-FCBFE14EC823}" type="pres">
      <dgm:prSet presAssocID="{60AA8585-C599-47C9-8693-83B9212C1288}" presName="textB" presStyleLbl="revTx" presStyleIdx="1" presStyleCnt="5">
        <dgm:presLayoutVars>
          <dgm:bulletEnabled val="1"/>
        </dgm:presLayoutVars>
      </dgm:prSet>
      <dgm:spPr/>
    </dgm:pt>
    <dgm:pt modelId="{A8B0725C-5051-42AB-AD7E-7679BD7AD250}" type="pres">
      <dgm:prSet presAssocID="{60AA8585-C599-47C9-8693-83B9212C1288}" presName="circleB" presStyleLbl="node1" presStyleIdx="1" presStyleCnt="5"/>
      <dgm:spPr/>
    </dgm:pt>
    <dgm:pt modelId="{72BC891C-5D92-4CF9-974C-29A058F62EAC}" type="pres">
      <dgm:prSet presAssocID="{60AA8585-C599-47C9-8693-83B9212C1288}" presName="spaceB" presStyleCnt="0"/>
      <dgm:spPr/>
    </dgm:pt>
    <dgm:pt modelId="{0285A9CE-0204-4142-9AB1-0FAEC28BADD3}" type="pres">
      <dgm:prSet presAssocID="{B6B57579-681F-4C9E-8729-0FF54F50761C}" presName="space" presStyleCnt="0"/>
      <dgm:spPr/>
    </dgm:pt>
    <dgm:pt modelId="{66539E1C-AE49-4CED-9450-F73A5DD8D7B8}" type="pres">
      <dgm:prSet presAssocID="{5DA94DBC-45B2-4C2F-94F3-2BCEA41CD3F5}" presName="compositeA" presStyleCnt="0"/>
      <dgm:spPr/>
    </dgm:pt>
    <dgm:pt modelId="{8180874A-0A33-4E58-BF61-01C583F5AD51}" type="pres">
      <dgm:prSet presAssocID="{5DA94DBC-45B2-4C2F-94F3-2BCEA41CD3F5}" presName="textA" presStyleLbl="revTx" presStyleIdx="2" presStyleCnt="5">
        <dgm:presLayoutVars>
          <dgm:bulletEnabled val="1"/>
        </dgm:presLayoutVars>
      </dgm:prSet>
      <dgm:spPr/>
    </dgm:pt>
    <dgm:pt modelId="{E3D69A6F-F69E-4866-BD0D-C5837D46A6B0}" type="pres">
      <dgm:prSet presAssocID="{5DA94DBC-45B2-4C2F-94F3-2BCEA41CD3F5}" presName="circleA" presStyleLbl="node1" presStyleIdx="2" presStyleCnt="5"/>
      <dgm:spPr/>
    </dgm:pt>
    <dgm:pt modelId="{F2569A20-2087-472E-BB6A-F161ADF2309E}" type="pres">
      <dgm:prSet presAssocID="{5DA94DBC-45B2-4C2F-94F3-2BCEA41CD3F5}" presName="spaceA" presStyleCnt="0"/>
      <dgm:spPr/>
    </dgm:pt>
    <dgm:pt modelId="{30485BD1-49F4-4795-B070-52C9300BBA03}" type="pres">
      <dgm:prSet presAssocID="{5709495E-4DDA-4CC8-8528-4E81A4436FF1}" presName="space" presStyleCnt="0"/>
      <dgm:spPr/>
    </dgm:pt>
    <dgm:pt modelId="{F34EAFDA-7F24-49B8-B334-4C37A82A8F67}" type="pres">
      <dgm:prSet presAssocID="{864AA59E-22A0-47B6-8290-1C912E5FB449}" presName="compositeB" presStyleCnt="0"/>
      <dgm:spPr/>
    </dgm:pt>
    <dgm:pt modelId="{75B33293-D890-47D9-BB43-8A250AB899DA}" type="pres">
      <dgm:prSet presAssocID="{864AA59E-22A0-47B6-8290-1C912E5FB449}" presName="textB" presStyleLbl="revTx" presStyleIdx="3" presStyleCnt="5">
        <dgm:presLayoutVars>
          <dgm:bulletEnabled val="1"/>
        </dgm:presLayoutVars>
      </dgm:prSet>
      <dgm:spPr/>
    </dgm:pt>
    <dgm:pt modelId="{4C4298E6-3C10-4B93-AAF2-5AB9EF6F8F55}" type="pres">
      <dgm:prSet presAssocID="{864AA59E-22A0-47B6-8290-1C912E5FB449}" presName="circleB" presStyleLbl="node1" presStyleIdx="3" presStyleCnt="5"/>
      <dgm:spPr/>
    </dgm:pt>
    <dgm:pt modelId="{6A18185E-3A90-4EF5-93A1-A2322D0980E8}" type="pres">
      <dgm:prSet presAssocID="{864AA59E-22A0-47B6-8290-1C912E5FB449}" presName="spaceB" presStyleCnt="0"/>
      <dgm:spPr/>
    </dgm:pt>
    <dgm:pt modelId="{9BF18425-5749-41C2-85F6-8278E8FD0AF9}" type="pres">
      <dgm:prSet presAssocID="{25D9666B-F5B8-4770-8AEB-DA9E21B4E8DF}" presName="space" presStyleCnt="0"/>
      <dgm:spPr/>
    </dgm:pt>
    <dgm:pt modelId="{4A2A0863-8700-4F6D-9B81-70C78FED5728}" type="pres">
      <dgm:prSet presAssocID="{484B91CE-2E75-4508-B5A1-9D8E0FF3E179}" presName="compositeA" presStyleCnt="0"/>
      <dgm:spPr/>
    </dgm:pt>
    <dgm:pt modelId="{F3F4155C-C8C1-4B13-9D88-DEE5145CE279}" type="pres">
      <dgm:prSet presAssocID="{484B91CE-2E75-4508-B5A1-9D8E0FF3E179}" presName="textA" presStyleLbl="revTx" presStyleIdx="4" presStyleCnt="5">
        <dgm:presLayoutVars>
          <dgm:bulletEnabled val="1"/>
        </dgm:presLayoutVars>
      </dgm:prSet>
      <dgm:spPr/>
    </dgm:pt>
    <dgm:pt modelId="{6844451C-6B26-4DBB-9E99-FE49D5FB7F66}" type="pres">
      <dgm:prSet presAssocID="{484B91CE-2E75-4508-B5A1-9D8E0FF3E179}" presName="circleA" presStyleLbl="node1" presStyleIdx="4" presStyleCnt="5"/>
      <dgm:spPr/>
    </dgm:pt>
    <dgm:pt modelId="{A27904EC-0387-477A-900A-317C54814D1B}" type="pres">
      <dgm:prSet presAssocID="{484B91CE-2E75-4508-B5A1-9D8E0FF3E179}" presName="spaceA" presStyleCnt="0"/>
      <dgm:spPr/>
    </dgm:pt>
  </dgm:ptLst>
  <dgm:cxnLst>
    <dgm:cxn modelId="{2FA66905-618D-4EA2-8BF4-4589F04BB92E}" type="presOf" srcId="{484B91CE-2E75-4508-B5A1-9D8E0FF3E179}" destId="{F3F4155C-C8C1-4B13-9D88-DEE5145CE279}" srcOrd="0" destOrd="0" presId="urn:microsoft.com/office/officeart/2005/8/layout/hProcess11"/>
    <dgm:cxn modelId="{A8822C2E-66D5-45D2-92A0-2A54984E1F42}" srcId="{007A201F-AABD-4F92-915D-FEEF3E23F971}" destId="{484B91CE-2E75-4508-B5A1-9D8E0FF3E179}" srcOrd="4" destOrd="0" parTransId="{FF800812-7A6D-4F3A-BF72-7EF2D535DF60}" sibTransId="{A83803C8-4135-4F7C-9922-AC640591FBFF}"/>
    <dgm:cxn modelId="{414D0B36-4150-44F1-8D6F-908B7BBE65C6}" type="presOf" srcId="{007A201F-AABD-4F92-915D-FEEF3E23F971}" destId="{4C667887-141D-40EE-A349-DF195B40901E}" srcOrd="0" destOrd="0" presId="urn:microsoft.com/office/officeart/2005/8/layout/hProcess11"/>
    <dgm:cxn modelId="{9B16A269-9A8F-4426-899F-F9FA10E468C1}" srcId="{007A201F-AABD-4F92-915D-FEEF3E23F971}" destId="{864AA59E-22A0-47B6-8290-1C912E5FB449}" srcOrd="3" destOrd="0" parTransId="{17810E21-61CE-433F-A6A5-4B6D176A8677}" sibTransId="{25D9666B-F5B8-4770-8AEB-DA9E21B4E8DF}"/>
    <dgm:cxn modelId="{9B77F777-08A8-41F5-B1F7-B35EF9B97BCD}" type="presOf" srcId="{864AA59E-22A0-47B6-8290-1C912E5FB449}" destId="{75B33293-D890-47D9-BB43-8A250AB899DA}" srcOrd="0" destOrd="0" presId="urn:microsoft.com/office/officeart/2005/8/layout/hProcess11"/>
    <dgm:cxn modelId="{D3280178-B0D8-40C7-A684-777857AE6CB1}" type="presOf" srcId="{5DA94DBC-45B2-4C2F-94F3-2BCEA41CD3F5}" destId="{8180874A-0A33-4E58-BF61-01C583F5AD51}" srcOrd="0" destOrd="0" presId="urn:microsoft.com/office/officeart/2005/8/layout/hProcess11"/>
    <dgm:cxn modelId="{6307E99C-5751-4D90-953A-CF657C8AFAEC}" type="presOf" srcId="{EB97BE40-E505-4699-830C-243ADB99192A}" destId="{D173214B-8969-4322-B9FB-89DB2FEE28CA}" srcOrd="0" destOrd="0" presId="urn:microsoft.com/office/officeart/2005/8/layout/hProcess11"/>
    <dgm:cxn modelId="{003FF9AC-5AD6-44C4-94A4-FD786AFB6619}" srcId="{007A201F-AABD-4F92-915D-FEEF3E23F971}" destId="{EB97BE40-E505-4699-830C-243ADB99192A}" srcOrd="0" destOrd="0" parTransId="{D3E40ADD-7346-480C-A089-8F0E48F2A37C}" sibTransId="{8ACCF50A-11AE-4B94-B19F-D628C51EF880}"/>
    <dgm:cxn modelId="{4C6D15E2-B4DA-4E68-A33C-510187CF65B1}" srcId="{007A201F-AABD-4F92-915D-FEEF3E23F971}" destId="{5DA94DBC-45B2-4C2F-94F3-2BCEA41CD3F5}" srcOrd="2" destOrd="0" parTransId="{CAB59A71-7D8B-4431-930E-57EE8EC202EE}" sibTransId="{5709495E-4DDA-4CC8-8528-4E81A4436FF1}"/>
    <dgm:cxn modelId="{90228FE7-BA4B-42E7-9335-BF2AEEB344B6}" type="presOf" srcId="{60AA8585-C599-47C9-8693-83B9212C1288}" destId="{BD3CECD3-D187-4BE1-A0F7-FCBFE14EC823}" srcOrd="0" destOrd="0" presId="urn:microsoft.com/office/officeart/2005/8/layout/hProcess11"/>
    <dgm:cxn modelId="{434047FD-A09F-473F-B0EE-8365B6366BCA}" srcId="{007A201F-AABD-4F92-915D-FEEF3E23F971}" destId="{60AA8585-C599-47C9-8693-83B9212C1288}" srcOrd="1" destOrd="0" parTransId="{395DA2BB-9571-4096-ADFF-9709B77CBC95}" sibTransId="{B6B57579-681F-4C9E-8729-0FF54F50761C}"/>
    <dgm:cxn modelId="{E5937AF3-2680-4228-9300-E15C49FD49A2}" type="presParOf" srcId="{4C667887-141D-40EE-A349-DF195B40901E}" destId="{E97E939B-2D7F-4FE3-B7FA-441C843DF3B4}" srcOrd="0" destOrd="0" presId="urn:microsoft.com/office/officeart/2005/8/layout/hProcess11"/>
    <dgm:cxn modelId="{D53CF601-C025-4FC3-93A4-4FC675E036B4}" type="presParOf" srcId="{4C667887-141D-40EE-A349-DF195B40901E}" destId="{33282EEB-2BDE-4D2D-A46C-A716DDED9520}" srcOrd="1" destOrd="0" presId="urn:microsoft.com/office/officeart/2005/8/layout/hProcess11"/>
    <dgm:cxn modelId="{16399363-0CE0-49B4-9DFB-6BCFD1C9ADFA}" type="presParOf" srcId="{33282EEB-2BDE-4D2D-A46C-A716DDED9520}" destId="{2C2E7EE7-A2BD-4703-BED1-D6CFD58B2639}" srcOrd="0" destOrd="0" presId="urn:microsoft.com/office/officeart/2005/8/layout/hProcess11"/>
    <dgm:cxn modelId="{010D1B3F-1765-46BB-9C44-12D253B49777}" type="presParOf" srcId="{2C2E7EE7-A2BD-4703-BED1-D6CFD58B2639}" destId="{D173214B-8969-4322-B9FB-89DB2FEE28CA}" srcOrd="0" destOrd="0" presId="urn:microsoft.com/office/officeart/2005/8/layout/hProcess11"/>
    <dgm:cxn modelId="{06734F12-318A-4D1D-A5CC-8AED0E583E69}" type="presParOf" srcId="{2C2E7EE7-A2BD-4703-BED1-D6CFD58B2639}" destId="{AA381D20-A8A9-42AE-B409-06559A175A1F}" srcOrd="1" destOrd="0" presId="urn:microsoft.com/office/officeart/2005/8/layout/hProcess11"/>
    <dgm:cxn modelId="{A5BCA822-30C9-4F6C-80C7-44F7B32FAE5F}" type="presParOf" srcId="{2C2E7EE7-A2BD-4703-BED1-D6CFD58B2639}" destId="{14954471-E855-46A9-8B9F-DA508A8D9E2D}" srcOrd="2" destOrd="0" presId="urn:microsoft.com/office/officeart/2005/8/layout/hProcess11"/>
    <dgm:cxn modelId="{5111C226-C2C9-4A08-A8B9-334088770DFB}" type="presParOf" srcId="{33282EEB-2BDE-4D2D-A46C-A716DDED9520}" destId="{EB7114D1-DB01-4FC3-80FA-1C5C42EF133D}" srcOrd="1" destOrd="0" presId="urn:microsoft.com/office/officeart/2005/8/layout/hProcess11"/>
    <dgm:cxn modelId="{A1B25649-E37F-4DB7-A456-FA21B5D4F281}" type="presParOf" srcId="{33282EEB-2BDE-4D2D-A46C-A716DDED9520}" destId="{CAAEDCD8-591C-46B8-80D3-162E31629F37}" srcOrd="2" destOrd="0" presId="urn:microsoft.com/office/officeart/2005/8/layout/hProcess11"/>
    <dgm:cxn modelId="{28B51F34-3918-4939-86AD-849F892F8890}" type="presParOf" srcId="{CAAEDCD8-591C-46B8-80D3-162E31629F37}" destId="{BD3CECD3-D187-4BE1-A0F7-FCBFE14EC823}" srcOrd="0" destOrd="0" presId="urn:microsoft.com/office/officeart/2005/8/layout/hProcess11"/>
    <dgm:cxn modelId="{E637EB12-2FC1-4352-BE92-BB530779E5C5}" type="presParOf" srcId="{CAAEDCD8-591C-46B8-80D3-162E31629F37}" destId="{A8B0725C-5051-42AB-AD7E-7679BD7AD250}" srcOrd="1" destOrd="0" presId="urn:microsoft.com/office/officeart/2005/8/layout/hProcess11"/>
    <dgm:cxn modelId="{DB11B760-488D-43B8-8E28-932746D69702}" type="presParOf" srcId="{CAAEDCD8-591C-46B8-80D3-162E31629F37}" destId="{72BC891C-5D92-4CF9-974C-29A058F62EAC}" srcOrd="2" destOrd="0" presId="urn:microsoft.com/office/officeart/2005/8/layout/hProcess11"/>
    <dgm:cxn modelId="{30F57849-13A3-4963-8C86-42F396AB5845}" type="presParOf" srcId="{33282EEB-2BDE-4D2D-A46C-A716DDED9520}" destId="{0285A9CE-0204-4142-9AB1-0FAEC28BADD3}" srcOrd="3" destOrd="0" presId="urn:microsoft.com/office/officeart/2005/8/layout/hProcess11"/>
    <dgm:cxn modelId="{568F2F39-6278-41F0-9A1C-DC58DCA1996A}" type="presParOf" srcId="{33282EEB-2BDE-4D2D-A46C-A716DDED9520}" destId="{66539E1C-AE49-4CED-9450-F73A5DD8D7B8}" srcOrd="4" destOrd="0" presId="urn:microsoft.com/office/officeart/2005/8/layout/hProcess11"/>
    <dgm:cxn modelId="{48ADAB67-1CE8-43FD-B4AC-114F3447E3CC}" type="presParOf" srcId="{66539E1C-AE49-4CED-9450-F73A5DD8D7B8}" destId="{8180874A-0A33-4E58-BF61-01C583F5AD51}" srcOrd="0" destOrd="0" presId="urn:microsoft.com/office/officeart/2005/8/layout/hProcess11"/>
    <dgm:cxn modelId="{9A349397-E96D-4937-9F12-91EA3F7EE10D}" type="presParOf" srcId="{66539E1C-AE49-4CED-9450-F73A5DD8D7B8}" destId="{E3D69A6F-F69E-4866-BD0D-C5837D46A6B0}" srcOrd="1" destOrd="0" presId="urn:microsoft.com/office/officeart/2005/8/layout/hProcess11"/>
    <dgm:cxn modelId="{9A5BABBA-9EB7-4B2C-A67D-BDF98CD2B0A3}" type="presParOf" srcId="{66539E1C-AE49-4CED-9450-F73A5DD8D7B8}" destId="{F2569A20-2087-472E-BB6A-F161ADF2309E}" srcOrd="2" destOrd="0" presId="urn:microsoft.com/office/officeart/2005/8/layout/hProcess11"/>
    <dgm:cxn modelId="{5439B952-A53B-4A58-9DD2-7F17A676576B}" type="presParOf" srcId="{33282EEB-2BDE-4D2D-A46C-A716DDED9520}" destId="{30485BD1-49F4-4795-B070-52C9300BBA03}" srcOrd="5" destOrd="0" presId="urn:microsoft.com/office/officeart/2005/8/layout/hProcess11"/>
    <dgm:cxn modelId="{459A8158-EF3F-4B49-B7DF-AD0585E95ED0}" type="presParOf" srcId="{33282EEB-2BDE-4D2D-A46C-A716DDED9520}" destId="{F34EAFDA-7F24-49B8-B334-4C37A82A8F67}" srcOrd="6" destOrd="0" presId="urn:microsoft.com/office/officeart/2005/8/layout/hProcess11"/>
    <dgm:cxn modelId="{D851700B-2424-4DB5-B140-6A35FE18EC72}" type="presParOf" srcId="{F34EAFDA-7F24-49B8-B334-4C37A82A8F67}" destId="{75B33293-D890-47D9-BB43-8A250AB899DA}" srcOrd="0" destOrd="0" presId="urn:microsoft.com/office/officeart/2005/8/layout/hProcess11"/>
    <dgm:cxn modelId="{53839415-926E-40C5-A39F-3BD84AEFF0AF}" type="presParOf" srcId="{F34EAFDA-7F24-49B8-B334-4C37A82A8F67}" destId="{4C4298E6-3C10-4B93-AAF2-5AB9EF6F8F55}" srcOrd="1" destOrd="0" presId="urn:microsoft.com/office/officeart/2005/8/layout/hProcess11"/>
    <dgm:cxn modelId="{1CF1D1B2-2D56-4D27-A55E-3730E5D57BC6}" type="presParOf" srcId="{F34EAFDA-7F24-49B8-B334-4C37A82A8F67}" destId="{6A18185E-3A90-4EF5-93A1-A2322D0980E8}" srcOrd="2" destOrd="0" presId="urn:microsoft.com/office/officeart/2005/8/layout/hProcess11"/>
    <dgm:cxn modelId="{846725E5-724D-4AED-AFBF-D27C6CE9F799}" type="presParOf" srcId="{33282EEB-2BDE-4D2D-A46C-A716DDED9520}" destId="{9BF18425-5749-41C2-85F6-8278E8FD0AF9}" srcOrd="7" destOrd="0" presId="urn:microsoft.com/office/officeart/2005/8/layout/hProcess11"/>
    <dgm:cxn modelId="{40E98474-BCF6-495B-8ACE-49FE35B3237C}" type="presParOf" srcId="{33282EEB-2BDE-4D2D-A46C-A716DDED9520}" destId="{4A2A0863-8700-4F6D-9B81-70C78FED5728}" srcOrd="8" destOrd="0" presId="urn:microsoft.com/office/officeart/2005/8/layout/hProcess11"/>
    <dgm:cxn modelId="{CA7A8173-E622-4D5A-981B-35F1C94B0D87}" type="presParOf" srcId="{4A2A0863-8700-4F6D-9B81-70C78FED5728}" destId="{F3F4155C-C8C1-4B13-9D88-DEE5145CE279}" srcOrd="0" destOrd="0" presId="urn:microsoft.com/office/officeart/2005/8/layout/hProcess11"/>
    <dgm:cxn modelId="{0C905109-60B3-41B5-A40B-10E324A838A7}" type="presParOf" srcId="{4A2A0863-8700-4F6D-9B81-70C78FED5728}" destId="{6844451C-6B26-4DBB-9E99-FE49D5FB7F66}" srcOrd="1" destOrd="0" presId="urn:microsoft.com/office/officeart/2005/8/layout/hProcess11"/>
    <dgm:cxn modelId="{ADFDCC90-217E-4A79-83F1-3B43F4A22000}" type="presParOf" srcId="{4A2A0863-8700-4F6D-9B81-70C78FED5728}" destId="{A27904EC-0387-477A-900A-317C54814D1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7E939B-2D7F-4FE3-B7FA-441C843DF3B4}">
      <dsp:nvSpPr>
        <dsp:cNvPr id="0" name=""/>
        <dsp:cNvSpPr/>
      </dsp:nvSpPr>
      <dsp:spPr>
        <a:xfrm>
          <a:off x="0" y="1305401"/>
          <a:ext cx="10515600" cy="174053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73214B-8969-4322-B9FB-89DB2FEE28CA}">
      <dsp:nvSpPr>
        <dsp:cNvPr id="0" name=""/>
        <dsp:cNvSpPr/>
      </dsp:nvSpPr>
      <dsp:spPr>
        <a:xfrm>
          <a:off x="4159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Raw data from UCI dataset (acceleration and gyro)</a:t>
          </a:r>
          <a:endParaRPr lang="en-US" sz="1800" kern="1200" dirty="0"/>
        </a:p>
      </dsp:txBody>
      <dsp:txXfrm>
        <a:off x="4159" y="0"/>
        <a:ext cx="1818408" cy="1740535"/>
      </dsp:txXfrm>
    </dsp:sp>
    <dsp:sp modelId="{AA381D20-A8A9-42AE-B409-06559A175A1F}">
      <dsp:nvSpPr>
        <dsp:cNvPr id="0" name=""/>
        <dsp:cNvSpPr/>
      </dsp:nvSpPr>
      <dsp:spPr>
        <a:xfrm>
          <a:off x="695796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3CECD3-D187-4BE1-A0F7-FCBFE14EC823}">
      <dsp:nvSpPr>
        <dsp:cNvPr id="0" name=""/>
        <dsp:cNvSpPr/>
      </dsp:nvSpPr>
      <dsp:spPr>
        <a:xfrm>
          <a:off x="1913487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</a:t>
          </a:r>
          <a:r>
            <a:rPr lang="en-US" sz="1800" kern="1200">
              <a:latin typeface="Aptos Display" panose="020F0302020204030204"/>
            </a:rPr>
            <a:t>Preprocessing</a:t>
          </a:r>
          <a:r>
            <a:rPr lang="en-US" sz="1800" kern="1200" dirty="0">
              <a:latin typeface="Aptos Display" panose="020F0302020204030204"/>
            </a:rPr>
            <a:t> (window, filtering, normalization, splitting)</a:t>
          </a:r>
          <a:endParaRPr lang="en-US" sz="1800" kern="1200" dirty="0"/>
        </a:p>
      </dsp:txBody>
      <dsp:txXfrm>
        <a:off x="1913487" y="2610802"/>
        <a:ext cx="1818408" cy="1740535"/>
      </dsp:txXfrm>
    </dsp:sp>
    <dsp:sp modelId="{A8B0725C-5051-42AB-AD7E-7679BD7AD250}">
      <dsp:nvSpPr>
        <dsp:cNvPr id="0" name=""/>
        <dsp:cNvSpPr/>
      </dsp:nvSpPr>
      <dsp:spPr>
        <a:xfrm>
          <a:off x="2605124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180874A-0A33-4E58-BF61-01C583F5AD51}">
      <dsp:nvSpPr>
        <dsp:cNvPr id="0" name=""/>
        <dsp:cNvSpPr/>
      </dsp:nvSpPr>
      <dsp:spPr>
        <a:xfrm>
          <a:off x="3822815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</a:t>
          </a:r>
          <a:r>
            <a:rPr lang="en-US" sz="1800" kern="1200">
              <a:latin typeface="Aptos Display" panose="020F0302020204030204"/>
            </a:rPr>
            <a:t>Feature extraction (time and frequency, </a:t>
          </a:r>
          <a:r>
            <a:rPr lang="en-US" sz="1800" kern="1200" dirty="0">
              <a:latin typeface="Aptos Display" panose="020F0302020204030204"/>
            </a:rPr>
            <a:t>raw data window for CNN model)</a:t>
          </a:r>
        </a:p>
      </dsp:txBody>
      <dsp:txXfrm>
        <a:off x="3822815" y="0"/>
        <a:ext cx="1818408" cy="1740535"/>
      </dsp:txXfrm>
    </dsp:sp>
    <dsp:sp modelId="{E3D69A6F-F69E-4866-BD0D-C5837D46A6B0}">
      <dsp:nvSpPr>
        <dsp:cNvPr id="0" name=""/>
        <dsp:cNvSpPr/>
      </dsp:nvSpPr>
      <dsp:spPr>
        <a:xfrm>
          <a:off x="4514453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B33293-D890-47D9-BB43-8A250AB899DA}">
      <dsp:nvSpPr>
        <dsp:cNvPr id="0" name=""/>
        <dsp:cNvSpPr/>
      </dsp:nvSpPr>
      <dsp:spPr>
        <a:xfrm>
          <a:off x="5732144" y="2610802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Model training</a:t>
          </a:r>
          <a:endParaRPr lang="en-US" sz="1800" kern="1200" dirty="0"/>
        </a:p>
      </dsp:txBody>
      <dsp:txXfrm>
        <a:off x="5732144" y="2610802"/>
        <a:ext cx="1818408" cy="1740535"/>
      </dsp:txXfrm>
    </dsp:sp>
    <dsp:sp modelId="{4C4298E6-3C10-4B93-AAF2-5AB9EF6F8F55}">
      <dsp:nvSpPr>
        <dsp:cNvPr id="0" name=""/>
        <dsp:cNvSpPr/>
      </dsp:nvSpPr>
      <dsp:spPr>
        <a:xfrm>
          <a:off x="6423781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3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F4155C-C8C1-4B13-9D88-DEE5145CE279}">
      <dsp:nvSpPr>
        <dsp:cNvPr id="0" name=""/>
        <dsp:cNvSpPr/>
      </dsp:nvSpPr>
      <dsp:spPr>
        <a:xfrm>
          <a:off x="7641472" y="0"/>
          <a:ext cx="1818408" cy="1740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ptos Display" panose="020F0302020204030204"/>
            </a:rPr>
            <a:t> Exporting results (</a:t>
          </a:r>
          <a:r>
            <a:rPr lang="en-US" sz="1800" kern="1200" dirty="0" err="1">
              <a:latin typeface="Aptos Display" panose="020F0302020204030204"/>
            </a:rPr>
            <a:t>model.json</a:t>
          </a:r>
          <a:r>
            <a:rPr lang="en-US" sz="1800" kern="1200" dirty="0">
              <a:latin typeface="Aptos Display" panose="020F0302020204030204"/>
            </a:rPr>
            <a:t> + TF.js, ONNX Web)</a:t>
          </a:r>
        </a:p>
      </dsp:txBody>
      <dsp:txXfrm>
        <a:off x="7641472" y="0"/>
        <a:ext cx="1818408" cy="1740535"/>
      </dsp:txXfrm>
    </dsp:sp>
    <dsp:sp modelId="{6844451C-6B26-4DBB-9E99-FE49D5FB7F66}">
      <dsp:nvSpPr>
        <dsp:cNvPr id="0" name=""/>
        <dsp:cNvSpPr/>
      </dsp:nvSpPr>
      <dsp:spPr>
        <a:xfrm>
          <a:off x="8333110" y="1958102"/>
          <a:ext cx="435133" cy="435133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hyperlink" Target="https://har-demo-cis4930.vercel.app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Person Holding Black Smartphone · Free Stock Photo">
            <a:extLst>
              <a:ext uri="{FF2B5EF4-FFF2-40B4-BE49-F238E27FC236}">
                <a16:creationId xmlns:a16="http://schemas.microsoft.com/office/drawing/2014/main" id="{7F109F31-C5DD-5AE8-B962-32F6199E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98" t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700">
                <a:ea typeface="+mj-lt"/>
                <a:cs typeface="+mj-lt"/>
              </a:rPr>
              <a:t>Smartphone-Based Human Activity Recognition Using Inertial</a:t>
            </a:r>
            <a:endParaRPr lang="en-US" sz="3700"/>
          </a:p>
          <a:p>
            <a:pPr algn="l"/>
            <a:r>
              <a:rPr lang="en-US" sz="3700">
                <a:ea typeface="+mj-lt"/>
                <a:cs typeface="+mj-lt"/>
              </a:rPr>
              <a:t>Sensors</a:t>
            </a:r>
            <a:endParaRPr lang="en-US" sz="37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400" dirty="0">
                <a:ea typeface="+mn-lt"/>
                <a:cs typeface="+mn-lt"/>
              </a:rPr>
              <a:t>Tomas Pastore Godoy, Mateo </a:t>
            </a:r>
            <a:r>
              <a:rPr lang="en-US" sz="1400" dirty="0" err="1">
                <a:ea typeface="+mn-lt"/>
                <a:cs typeface="+mn-lt"/>
              </a:rPr>
              <a:t>Saettone</a:t>
            </a:r>
            <a:r>
              <a:rPr lang="en-US" sz="1400" dirty="0">
                <a:ea typeface="+mn-lt"/>
                <a:cs typeface="+mn-lt"/>
              </a:rPr>
              <a:t>, and Ethan Thompson</a:t>
            </a:r>
          </a:p>
          <a:p>
            <a:pPr algn="l"/>
            <a:r>
              <a:rPr lang="en-US" sz="1400"/>
              <a:t>CIS4930 – Wireless and Mobile Computing</a:t>
            </a:r>
          </a:p>
          <a:p>
            <a:pPr algn="l"/>
            <a:r>
              <a:rPr lang="en-US" sz="1400"/>
              <a:t>April 22nd, 2026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B0940-4891-1E6C-B7B6-94FD0ACB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Overview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Workflow with solid fill">
            <a:extLst>
              <a:ext uri="{FF2B5EF4-FFF2-40B4-BE49-F238E27FC236}">
                <a16:creationId xmlns:a16="http://schemas.microsoft.com/office/drawing/2014/main" id="{B16F3E6D-9B00-2D5A-434F-5CA8DB3EBC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47B98-0938-2546-81D1-F4FA80669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Context and Background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Dataset Overview</a:t>
            </a:r>
          </a:p>
          <a:p>
            <a:r>
              <a:rPr lang="en-US"/>
              <a:t>System Overview</a:t>
            </a:r>
          </a:p>
          <a:p>
            <a:r>
              <a:rPr lang="en-US"/>
              <a:t>Experimental Results</a:t>
            </a:r>
          </a:p>
          <a:p>
            <a:r>
              <a:rPr lang="en-US"/>
              <a:t>Limitations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2598536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C281EC-37B2-E923-334A-0430D023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Context and Background</a:t>
            </a:r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2982-6ECA-7D1B-0492-911E4B5F5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Our idea: </a:t>
            </a:r>
            <a:r>
              <a:rPr lang="en-US" err="1">
                <a:ea typeface="+mn-lt"/>
                <a:cs typeface="+mn-lt"/>
              </a:rPr>
              <a:t>mak</a:t>
            </a:r>
            <a:r>
              <a:rPr lang="en-US">
                <a:ea typeface="+mn-lt"/>
                <a:cs typeface="+mn-lt"/>
              </a:rPr>
              <a:t>e an activity tracking/sensing app that detects user movement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Activity recognition has real applications in health monitoring, fitness tracking, and elderly care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Smartphones are already widely available, so a purely software-based solution requires no extra hardware</a:t>
            </a:r>
          </a:p>
          <a:p>
            <a:r>
              <a:rPr lang="en-US">
                <a:ea typeface="+mn-lt"/>
                <a:cs typeface="+mn-lt"/>
              </a:rPr>
              <a:t>Practical problem with meaningful impact </a:t>
            </a:r>
          </a:p>
        </p:txBody>
      </p:sp>
    </p:spTree>
    <p:extLst>
      <p:ext uri="{BB962C8B-B14F-4D97-AF65-F5344CB8AC3E}">
        <p14:creationId xmlns:p14="http://schemas.microsoft.com/office/powerpoint/2010/main" val="205324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1509A3-82BF-E38C-8892-A99FEAB14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7" name="Picture 26" descr="Mobile device with apps">
            <a:extLst>
              <a:ext uri="{FF2B5EF4-FFF2-40B4-BE49-F238E27FC236}">
                <a16:creationId xmlns:a16="http://schemas.microsoft.com/office/drawing/2014/main" id="{D3DF799B-CCBF-1AE8-6CC2-057F53F00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90" r="10283" b="-2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3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C5CA8A-259F-BD7D-90DB-0E5D41518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en-US"/>
              <a:t>Why Mobile?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6A470-6E65-404C-BC58-00D9C15C3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8" y="1868487"/>
            <a:ext cx="5721484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Phone carrying is the norm for most adults, many fitness devices have some form of mobile connection already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Smart watches and fitness bands (Fitbit)</a:t>
            </a:r>
          </a:p>
          <a:p>
            <a:r>
              <a:rPr lang="en-US" sz="2400">
                <a:ea typeface="+mn-lt"/>
                <a:cs typeface="+mn-lt"/>
              </a:rPr>
              <a:t>Alternatives present issues such as infrastructure costs and privacy concerns</a:t>
            </a:r>
          </a:p>
          <a:p>
            <a:r>
              <a:rPr lang="en-US" sz="2400">
                <a:ea typeface="+mn-lt"/>
                <a:cs typeface="+mn-lt"/>
              </a:rPr>
              <a:t>Less likely to hallucinate movement</a:t>
            </a:r>
          </a:p>
        </p:txBody>
      </p:sp>
    </p:spTree>
    <p:extLst>
      <p:ext uri="{BB962C8B-B14F-4D97-AF65-F5344CB8AC3E}">
        <p14:creationId xmlns:p14="http://schemas.microsoft.com/office/powerpoint/2010/main" val="3597761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00900-B97A-ECB0-C09D-3A3D142D2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rPr lang="en-US"/>
              <a:t>Dataset Overview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6D5A-A41C-F82F-C838-E49E37EB5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/>
              <a:t>Consists of data collected from 30 volunteers aged 19 - 48</a:t>
            </a:r>
          </a:p>
          <a:p>
            <a:r>
              <a:rPr lang="en-US" sz="2400"/>
              <a:t>Each participants performed the following activities: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Walking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Walking up and down stairs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Sitting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Standing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Laying down</a:t>
            </a:r>
            <a:endParaRPr lang="en-US" dirty="0"/>
          </a:p>
          <a:p>
            <a:r>
              <a:rPr lang="en-US" sz="2400"/>
              <a:t>Data obtained via accelerometer and gyroscope of Samsung Galaxy S II worn on waist</a:t>
            </a:r>
            <a:endParaRPr lang="en-US" sz="2400" dirty="0"/>
          </a:p>
          <a:p>
            <a:r>
              <a:rPr lang="en-US" sz="2400"/>
              <a:t>70/30 split between training data and test data</a:t>
            </a:r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61192AB-2074-07B2-32FE-4C64F088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744" y="32712"/>
            <a:ext cx="5074643" cy="16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106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CEB2D-731C-834E-C015-B48A62FBB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EC3C4-5C46-9861-F2ED-F4134365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09307"/>
            <a:ext cx="3813401" cy="2496229"/>
          </a:xfrm>
        </p:spPr>
        <p:txBody>
          <a:bodyPr anchor="ctr">
            <a:normAutofit/>
          </a:bodyPr>
          <a:lstStyle/>
          <a:p>
            <a:r>
              <a:rPr lang="en-US" sz="3600"/>
              <a:t>Dataset Overview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E46FE3C-8E54-7FA2-647E-AF33F22CA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868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FFBF0-66B7-656E-41CE-82D62FB32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4460422"/>
            <a:ext cx="7485413" cy="245268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/>
              <a:t>Includes time information for body acceleration, gravity acceleration, and gyro information for X, Y, and Z axes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 dirty="0"/>
              <a:t>Magnitude of each is also calculated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/>
              <a:t>Sensors</a:t>
            </a:r>
            <a:r>
              <a:rPr lang="en-US" sz="1800">
                <a:ea typeface="+mn-lt"/>
                <a:cs typeface="+mn-lt"/>
              </a:rPr>
              <a:t>: 3-axis accel + 3-axis gyro at 50 Hz</a:t>
            </a:r>
            <a:endParaRPr lang="en-US" sz="180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Windows: 2.56 s, 50% overlap → 128 samples/window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sz="1800">
                <a:ea typeface="+mn-lt"/>
                <a:cs typeface="+mn-lt"/>
              </a:rPr>
              <a:t>Comes in two flavors: raw inertial signals and a 561-feature engineered table</a:t>
            </a:r>
            <a:endParaRPr lang="en-US" sz="1800"/>
          </a:p>
          <a:p>
            <a:pPr marL="342900"/>
            <a:r>
              <a:rPr lang="en-US" sz="1800"/>
              <a:t>Train/test data is split up into dataset, activity labels, subject number, and inertial signals for gyro and acceleration data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 sz="1500"/>
          </a:p>
          <a:p>
            <a:pPr marL="342900" indent="-342900"/>
            <a:endParaRPr lang="en-US" sz="1500"/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485446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C255B-6014-5C52-94D4-0F2FF745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C4B47-1087-E9A5-7BD0-571506375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Model 1: Random Forest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B0292-5358-3EB3-D574-0FE78FD8C1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/>
            <a:r>
              <a:rPr sz="1800"/>
              <a:t>Classical ML baseline on the 561 engineered features</a:t>
            </a:r>
            <a:endParaRPr lang="en-US"/>
          </a:p>
          <a:p>
            <a:pPr/>
            <a:r>
              <a:rPr sz="1800"/>
              <a:t>200 trees, bootstrap + Gini split, trained in seconds</a:t>
            </a:r>
          </a:p>
          <a:p>
            <a:pPr/>
            <a:r>
              <a:rPr sz="1800"/>
              <a:t>Used for comparison – strong but plateaus below the CNN</a:t>
            </a:r>
          </a:p>
          <a:p>
            <a:pPr/>
            <a:r>
              <a:rPr sz="1800" b="1"/>
              <a:t>Test accuracy: 85.3%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74081-7257-DB6C-BF81-7228ECEA0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Model 2: 1D CNN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31E16E-454C-C7C9-15D4-7DD923A73F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/>
            <a:r>
              <a:rPr sz="1800"/>
              <a:t>1D CNN over raw 128×9 inertial windows</a:t>
            </a:r>
            <a:endParaRPr lang="en-US"/>
          </a:p>
          <a:p>
            <a:pPr/>
            <a:r>
              <a:rPr sz="1800"/>
              <a:t>Conv(64)→Pool→Conv(64)→Pool→Conv(64)→GAP→Dense(100)→Softmax</a:t>
            </a:r>
          </a:p>
          <a:p>
            <a:pPr/>
            <a:r>
              <a:rPr sz="1800"/>
              <a:t>~120k parameters, exported to ONNX (≈170 KB)</a:t>
            </a:r>
          </a:p>
          <a:p>
            <a:pPr/>
            <a:r>
              <a:rPr sz="1800" b="1"/>
              <a:t>Test accuracy: 90.5%</a:t>
            </a:r>
          </a:p>
        </p:txBody>
      </p:sp>
    </p:spTree>
    <p:extLst>
      <p:ext uri="{BB962C8B-B14F-4D97-AF65-F5344CB8AC3E}">
        <p14:creationId xmlns:p14="http://schemas.microsoft.com/office/powerpoint/2010/main" val="122898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01EAF-62AA-BDDD-E691-E271F2690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Training Pipeline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B57444-F130-C287-4365-7235599A02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16370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22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9A90D-43CA-24BB-428C-CEAF1580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Product</a:t>
            </a:r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BF838C38-BA5B-DBD7-1BB2-29D687E59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3086" y="563953"/>
            <a:ext cx="4458712" cy="59253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732AA6-E580-0D63-1A0A-3BF2A796C11C}"/>
              </a:ext>
            </a:extLst>
          </p:cNvPr>
          <p:cNvSpPr txBox="1"/>
          <p:nvPr/>
        </p:nvSpPr>
        <p:spPr>
          <a:xfrm>
            <a:off x="937125" y="1796156"/>
            <a:ext cx="6122551" cy="46856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E7DC9-C81C-F904-5AA4-6CA525505DB8}"/>
              </a:ext>
            </a:extLst>
          </p:cNvPr>
          <p:cNvSpPr txBox="1"/>
          <p:nvPr/>
        </p:nvSpPr>
        <p:spPr>
          <a:xfrm>
            <a:off x="940252" y="1668063"/>
            <a:ext cx="5385342" cy="42029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Final project is </a:t>
            </a:r>
            <a:r>
              <a:rPr lang="en-US" sz="2000"/>
              <a:t>publicly</a:t>
            </a:r>
            <a:r>
              <a:rPr lang="en-US" sz="2000" dirty="0"/>
              <a:t> available as a web app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 dirty="0">
                <a:ea typeface="+mn-lt"/>
                <a:cs typeface="+mn-lt"/>
                <a:hlinkClick r:id="rId3"/>
              </a:rPr>
              <a:t>https://har-demo-cis4930.vercel.app/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/>
              <a:t>Uses our trained model to predict the current movement of the user based on model </a:t>
            </a:r>
            <a:r>
              <a:rPr lang="en-US" sz="2000"/>
              <a:t>classes by tracking motion and acceleration of user's phone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/>
              <a:t>Detects all types of movement with fair accuracy</a:t>
            </a:r>
            <a:endParaRPr lang="en-US" sz="20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3D4E5B2-155B-5DE8-FE60-EEDB5CF6CFDE}"/>
              </a:ext>
            </a:extLst>
          </p:cNvPr>
          <p:cNvGrpSpPr/>
          <p:nvPr/>
        </p:nvGrpSpPr>
        <p:grpSpPr>
          <a:xfrm>
            <a:off x="-5150125" y="4440748"/>
            <a:ext cx="8482541" cy="5877895"/>
            <a:chOff x="-5150125" y="4440748"/>
            <a:chExt cx="8482541" cy="5877895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8AA2F4E-F1FE-26A1-D826-5E52EB982B93}"/>
                </a:ext>
              </a:extLst>
            </p:cNvPr>
            <p:cNvSpPr/>
            <p:nvPr/>
          </p:nvSpPr>
          <p:spPr>
            <a:xfrm>
              <a:off x="-5150125" y="4440748"/>
              <a:ext cx="6096606" cy="4341404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143902A-A315-F74B-CE31-D2623604A439}"/>
                </a:ext>
              </a:extLst>
            </p:cNvPr>
            <p:cNvSpPr/>
            <p:nvPr/>
          </p:nvSpPr>
          <p:spPr>
            <a:xfrm>
              <a:off x="-2764190" y="5977239"/>
              <a:ext cx="6096606" cy="4341404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898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E7F25-6044-AD5E-0292-D48F0DE9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A6FF9C3-6FAF-9130-88BF-EAE463032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68809-6D2D-98DB-1CE1-DED2D7415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rPr lang="en-US"/>
              <a:t>Limitations and Future Work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BB1D5E5-3F19-3DDC-D0F8-11E7507A4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05D5-294C-84C4-E5D6-909529136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t>Domain shift: UCI HAR was collected with the phone clipped to the waist</a:t>
            </a:r>
            <a:endParaRPr lang="en-US" sz="2400" dirty="0"/>
          </a:p>
          <a:p>
            <a:pPr lvl="1"/>
            <a:r>
              <a:t>Our users carry the phone in a pocket or hand – axes and gravity differ</a:t>
            </a:r>
          </a:p>
          <a:p>
            <a:pPr lvl="1"/>
            <a:r>
              <a:t>Result: 90.5% on UCI test ≠ 90.5% on a real iPhone in a pocket</a:t>
            </a:r>
          </a:p>
          <a:p>
            <a:pPr/>
            <a:r>
              <a:t>SITTING ↔ STANDING confusion – both are static, similar gravity signature</a:t>
            </a:r>
          </a:p>
          <a:p>
            <a:pPr/>
            <a:r>
              <a:t>Sensor sampling variability – iOS/Android fire DeviceMotion at 50–100 Hz</a:t>
            </a:r>
          </a:p>
          <a:p>
            <a:pPr lvl="1"/>
            <a:r>
              <a:t>We resample to 50 Hz to match training, but axis conventions still differ</a:t>
            </a:r>
          </a:p>
          <a:p>
            <a:pPr/>
            <a:r>
              <a:t>Single-subject bias – dataset covers 30 subjects, mostly young adults</a:t>
            </a:r>
          </a:p>
          <a:p>
            <a:pPr/>
            <a:r>
              <a:t>Future work</a:t>
            </a:r>
          </a:p>
          <a:p>
            <a:pPr lvl="1"/>
            <a:r>
              <a:t>On-device data collection mode (CSV or Supabase upload) to retrain on real phones</a:t>
            </a:r>
          </a:p>
          <a:p>
            <a:pPr lvl="1"/>
            <a:r>
              <a:t>Orientation-invariant features (signal magnitudes, rotation to principal axis)</a:t>
            </a:r>
          </a:p>
          <a:p>
            <a:pPr lvl="1"/>
            <a:r>
              <a:t>Fine-tuning or few-shot calibration per user at first launch</a:t>
            </a:r>
          </a:p>
          <a:p>
            <a:pPr lvl="1"/>
            <a:r>
              <a:t>Extend to smartwatches for continuous wear without the pocket assumption</a:t>
            </a:r>
          </a:p>
        </p:txBody>
      </p:sp>
    </p:spTree>
    <p:extLst>
      <p:ext uri="{BB962C8B-B14F-4D97-AF65-F5344CB8AC3E}">
        <p14:creationId xmlns:p14="http://schemas.microsoft.com/office/powerpoint/2010/main" val="2984054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9E373E-F435-CC75-128F-9B9E80C7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9D3A361-AA9F-F785-A4E2-D8DD1E92E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82638-783C-AD92-085F-52B0BBEB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26E2678-56EC-63A7-AE6E-8625D2FE1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285F-C0D9-A258-8A76-37AE5B32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t>Delivered a working smartphone HAR system end-to-end – data → model → live web demo</a:t>
            </a:r>
            <a:endParaRPr lang="en-US" sz="2400" dirty="0"/>
          </a:p>
          <a:p>
            <a:pPr/>
            <a:r>
              <a:t>Trained two models on UCI HAR and evaluated on held-out subjects</a:t>
            </a:r>
          </a:p>
          <a:p>
            <a:pPr lvl="1"/>
            <a:r>
              <a:t>Random Forest baseline – 85.3% accuracy</a:t>
            </a:r>
          </a:p>
          <a:p>
            <a:pPr lvl="1"/>
            <a:r>
              <a:t>1D CNN – 90.5% accuracy, meeting the proposal target</a:t>
            </a:r>
          </a:p>
          <a:p>
            <a:pPr/>
            <a:r>
              <a:t>Shipped as a PWA at har-demo-cis4930.vercel.app</a:t>
            </a:r>
          </a:p>
          <a:p>
            <a:pPr lvl="1"/>
            <a:r>
              <a:t>ONNX Runtime Web runs inference in the browser – no backend, no install</a:t>
            </a:r>
          </a:p>
          <a:p>
            <a:pPr lvl="1"/>
            <a:r>
              <a:t>Supabase Realtime Broadcast lets a projector view mirror the phone in a pocket</a:t>
            </a:r>
          </a:p>
          <a:p>
            <a:pPr/>
            <a:r>
              <a:t>Honest limitation: transferring UCI HAR to real-world pocket use degrades accuracy</a:t>
            </a:r>
          </a:p>
          <a:p>
            <a:pPr/>
            <a:r>
              <a:t>Next step: collect labeled data on our own phones and retrain for the target domain</a:t>
            </a:r>
          </a:p>
        </p:txBody>
      </p:sp>
    </p:spTree>
    <p:extLst>
      <p:ext uri="{BB962C8B-B14F-4D97-AF65-F5344CB8AC3E}">
        <p14:creationId xmlns:p14="http://schemas.microsoft.com/office/powerpoint/2010/main" val="3699997800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A6FF9C3-6FAF-9130-88BF-EAE463032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68809-6D2D-98DB-1CE1-DED2D7415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t>Experimental Results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BB1D5E5-3F19-3DDC-D0F8-11E7507A4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05D5-294C-84C4-E5D6-909529136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t>1D CNN – 90.5% test accuracy on held-out subjects (proposal target ≥ 90%)</a:t>
            </a:r>
            <a:endParaRPr lang="en-US" sz="2400" dirty="0"/>
          </a:p>
          <a:p>
            <a:pPr/>
            <a:r>
              <a:t>Random Forest baseline – 85.3% test accuracy</a:t>
            </a:r>
          </a:p>
          <a:p>
            <a:pPr/>
            <a:r>
              <a:t>CNN advantage concentrated on walking-type classes</a:t>
            </a:r>
          </a:p>
          <a:p>
            <a:pPr lvl="1"/>
            <a:r>
              <a:t>WALKING         F1 0.977   (RF 0.848)</a:t>
            </a:r>
          </a:p>
          <a:p>
            <a:pPr lvl="1"/>
            <a:r>
              <a:t>WALK UPSTAIRS   F1 0.913   (RF 0.824)</a:t>
            </a:r>
          </a:p>
          <a:p>
            <a:pPr lvl="1"/>
            <a:r>
              <a:t>WALK DOWNSTAIRS F1 0.907   (RF 0.876)</a:t>
            </a:r>
          </a:p>
          <a:p>
            <a:pPr/>
            <a:r>
              <a:t>Both models near-perfect on LAYING (F1 ≈ 1.00)</a:t>
            </a:r>
          </a:p>
          <a:p>
            <a:pPr/>
            <a:r>
              <a:t>Main confusion: SITTING ↔ STANDING for both models (static + similar posture)</a:t>
            </a:r>
          </a:p>
        </p:txBody>
      </p:sp>
      <p:pic>
        <p:nvPicPr>
          <p:cNvPr id="24" name="Picture 23" descr="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160520"/>
            <a:ext cx="65836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A6FF9C3-6FAF-9130-88BF-EAE463032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68809-6D2D-98DB-1CE1-DED2D7415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t>Experimental Results – Confusion Matrices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8BB1D5E5-3F19-3DDC-D0F8-11E7507A4F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4" name="Picture 23" descr="cm_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5486400" cy="4937760"/>
          </a:xfrm>
          <a:prstGeom prst="rect">
            <a:avLst/>
          </a:prstGeom>
        </p:spPr>
      </p:pic>
      <p:pic>
        <p:nvPicPr>
          <p:cNvPr id="25" name="Picture 24" descr="cm_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5486400" cy="4937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720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55555"/>
                </a:solidFill>
              </a:rPr>
              <a:t>Rows = true label, columns = predicted. Deeper blue = higher share. CNN collapses the stairs / walking confusion; both models split SITTING and STANDING.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9D3A361-AA9F-F785-A4E2-D8DD1E92E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A82638-783C-AD92-085F-52B0BBEB0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750149"/>
            <a:ext cx="10864837" cy="967333"/>
          </a:xfrm>
        </p:spPr>
        <p:txBody>
          <a:bodyPr>
            <a:normAutofit/>
          </a:bodyPr>
          <a:lstStyle/>
          <a:p>
            <a:r>
              <a:t>Thank You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26E2678-56EC-63A7-AE6E-8625D2FE1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285F-C0D9-A258-8A76-37AE5B325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048" y="1524642"/>
            <a:ext cx="9880669" cy="22165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 algn="ctr"/>
            <a:r>
              <a:rPr sz="4400" b="1"/>
              <a:t>Questions?</a:t>
            </a:r>
            <a:endParaRPr lang="en-US" sz="2400" dirty="0"/>
          </a:p>
          <a:p>
            <a:pPr algn="ctr"/>
            <a:r>
              <a:rPr sz="1800" b="0"/>
              <a:t/>
            </a:r>
          </a:p>
          <a:p>
            <a:pPr algn="ctr"/>
            <a:r>
              <a:rPr sz="2000" b="1"/>
              <a:t>Tomas Pastore Godoy  ·  Mateo Saettone  ·  Ethan Thompson</a:t>
            </a:r>
          </a:p>
          <a:p>
            <a:pPr algn="ctr"/>
            <a:r>
              <a:rPr sz="1600" b="0"/>
              <a:t>CIS4930 – Wireless and Mobile Computing</a:t>
            </a:r>
          </a:p>
          <a:p>
            <a:pPr algn="ctr"/>
            <a:r>
              <a:rPr sz="1000" b="0"/>
              <a:t/>
            </a:r>
          </a:p>
          <a:p>
            <a:pPr algn="ctr"/>
            <a:r>
              <a:rPr sz="1800" b="0"/>
              <a:t>Live demo:  har-demo-cis4930.vercel.app</a:t>
            </a:r>
          </a:p>
          <a:p>
            <a:pPr algn="ctr"/>
            <a:r>
              <a:rPr sz="1400" b="0"/>
              <a:t>Source:  github.com/MateoSaettone/Har-Demo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Smartphone-Based Human Activity Recognition Using Inertial Sensors</vt:lpstr>
      <vt:lpstr>Overview</vt:lpstr>
      <vt:lpstr>Context and Background</vt:lpstr>
      <vt:lpstr>Why Mobile?</vt:lpstr>
      <vt:lpstr>Dataset Overview</vt:lpstr>
      <vt:lpstr>Dataset Overview</vt:lpstr>
      <vt:lpstr>Our System</vt:lpstr>
      <vt:lpstr>Training Pipeline</vt:lpstr>
      <vt:lpstr>Final Product</vt:lpstr>
      <vt:lpstr>Limitations and Future Work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356</cp:revision>
  <dcterms:created xsi:type="dcterms:W3CDTF">2026-04-13T16:27:32Z</dcterms:created>
  <dcterms:modified xsi:type="dcterms:W3CDTF">2026-04-15T03:15:05Z</dcterms:modified>
</cp:coreProperties>
</file>